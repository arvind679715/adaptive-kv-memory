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  <a:latin typeface="Segoe UI"/>
              </a:defRPr>
            </a:pPr>
            <a:r>
              <a:t>AKV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>
                <a:solidFill>
                  <a:srgbClr val="00C97B"/>
                </a:solidFill>
                <a:latin typeface="Segoe UI"/>
              </a:defRPr>
            </a:pPr>
            <a:r>
              <a:t>Adaptive Hierarchical KV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EE2E6"/>
                </a:solidFill>
                <a:latin typeface="Segoe UI"/>
              </a:defRPr>
            </a:pPr>
            <a:r>
              <a:t>Near-Lossless KV Cache Compression for Long-Context LLM Inference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6928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6C757D"/>
                </a:solidFill>
                <a:latin typeface="Segoe UI"/>
              </a:defRPr>
            </a:pPr>
            <a:r>
              <a:t>COP Presentation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8F9FA"/>
                </a:solidFill>
                <a:latin typeface="Segoe UI"/>
              </a:defRPr>
            </a:pPr>
            <a:r>
              <a:t>LLMs store Key-Value pairs for every token in the context window</a:t>
            </a:r>
          </a:p>
          <a:p>
            <a:pPr>
              <a:spcAft>
                <a:spcPts val="200"/>
              </a:spcAft>
              <a:defRPr sz="600">
                <a:latin typeface="Segoe UI"/>
              </a:defRPr>
            </a:pPr>
          </a:p>
          <a:p>
            <a:pPr>
              <a:spcAft>
                <a:spcPts val="1200"/>
              </a:spcAft>
              <a:defRPr b="1" sz="2100">
                <a:solidFill>
                  <a:srgbClr val="FFC107"/>
                </a:solidFill>
                <a:latin typeface="Segoe UI"/>
              </a:defRPr>
            </a:pPr>
            <a:r>
              <a:t>Memory grows linearly with sequence length:</a:t>
            </a:r>
          </a:p>
          <a:p>
            <a:pPr>
              <a:spcAft>
                <a:spcPts val="200"/>
              </a:spcAft>
              <a:defRPr sz="600">
                <a:latin typeface="Segoe UI"/>
              </a:defRPr>
            </a:pPr>
          </a:p>
          <a:p>
            <a:pPr>
              <a:spcAft>
                <a:spcPts val="1200"/>
              </a:spcAft>
              <a:defRPr sz="2100">
                <a:solidFill>
                  <a:srgbClr val="F8F9FA"/>
                </a:solidFill>
                <a:latin typeface="Segoe UI"/>
              </a:defRPr>
            </a:pPr>
            <a:r>
              <a:t>   Llama-2-7B  ×  2K tokens    →     1 GB</a:t>
            </a:r>
          </a:p>
          <a:p>
            <a:pPr>
              <a:spcAft>
                <a:spcPts val="1200"/>
              </a:spcAft>
              <a:defRPr sz="2100">
                <a:solidFill>
                  <a:srgbClr val="F8F9FA"/>
                </a:solidFill>
                <a:latin typeface="Segoe UI"/>
              </a:defRPr>
            </a:pPr>
            <a:r>
              <a:t>   Llama-2-7B  ×  32K tokens   →    16 GB</a:t>
            </a:r>
          </a:p>
          <a:p>
            <a:pPr>
              <a:spcAft>
                <a:spcPts val="1200"/>
              </a:spcAft>
              <a:defRPr sz="2100">
                <a:solidFill>
                  <a:srgbClr val="F8F9FA"/>
                </a:solidFill>
                <a:latin typeface="Segoe UI"/>
              </a:defRPr>
            </a:pPr>
            <a:r>
              <a:t>   Llama-2-7B  ×  128K tokens  →    64 GB</a:t>
            </a:r>
          </a:p>
          <a:p>
            <a:pPr>
              <a:spcAft>
                <a:spcPts val="200"/>
              </a:spcAft>
              <a:defRPr sz="600">
                <a:latin typeface="Segoe UI"/>
              </a:defRPr>
            </a:pPr>
          </a:p>
          <a:p>
            <a:pPr>
              <a:spcAft>
                <a:spcPts val="1200"/>
              </a:spcAft>
              <a:defRPr sz="2100">
                <a:solidFill>
                  <a:srgbClr val="E84C3D"/>
                </a:solidFill>
                <a:latin typeface="Segoe UI"/>
              </a:defRPr>
            </a:pPr>
            <a:r>
              <a:t>KV cache is the #1 memory bottleneck for long-context serving</a:t>
            </a:r>
          </a:p>
          <a:p>
            <a:pPr>
              <a:spcAft>
                <a:spcPts val="200"/>
              </a:spcAft>
              <a:defRPr sz="600">
                <a:latin typeface="Segoe UI"/>
              </a:defRPr>
            </a:pPr>
          </a:p>
          <a:p>
            <a:pPr>
              <a:spcAft>
                <a:spcPts val="1200"/>
              </a:spcAft>
              <a:defRPr sz="2100">
                <a:solidFill>
                  <a:srgbClr val="F8F9FA"/>
                </a:solidFill>
                <a:latin typeface="Segoe UI"/>
              </a:defRPr>
            </a:pPr>
            <a:r>
              <a:t>Current GPU memory (80 GB A100) cannot serve 128K context</a:t>
            </a:r>
          </a:p>
          <a:p>
            <a:pPr>
              <a:spcAft>
                <a:spcPts val="1200"/>
              </a:spcAft>
              <a:defRPr sz="2100">
                <a:solidFill>
                  <a:srgbClr val="F8F9FA"/>
                </a:solidFill>
                <a:latin typeface="Segoe UI"/>
              </a:defRPr>
            </a:pPr>
            <a:r>
              <a:t>with batch size &gt; 1 — KV cache alone exceeds VRAM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Why Current Solutions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84C3D"/>
                </a:solidFill>
                <a:latin typeface="Segoe UI"/>
              </a:defRPr>
            </a:pPr>
            <a:r>
              <a:t>Eviction methods (H2O, SnapKV, ScissorHands)</a:t>
            </a:r>
          </a:p>
          <a:p>
            <a:pPr>
              <a:spcAft>
                <a:spcPts val="1200"/>
              </a:spcAft>
              <a:defRPr sz="2000">
                <a:solidFill>
                  <a:srgbClr val="F8F9FA"/>
                </a:solidFill>
                <a:latin typeface="Segoe UI"/>
              </a:defRPr>
            </a:pPr>
            <a:r>
              <a:t>   Permanently delete tokens to stay within budget</a:t>
            </a:r>
          </a:p>
          <a:p>
            <a:pPr>
              <a:spcAft>
                <a:spcPts val="1200"/>
              </a:spcAft>
              <a:defRPr sz="2000">
                <a:solidFill>
                  <a:srgbClr val="F8F9FA"/>
                </a:solidFill>
                <a:latin typeface="Segoe UI"/>
              </a:defRPr>
            </a:pPr>
            <a:r>
              <a:t>   Information lost FOREVER — catastrophic if needed later</a:t>
            </a:r>
          </a:p>
          <a:p>
            <a:pPr>
              <a:spcAft>
                <a:spcPts val="1200"/>
              </a:spcAft>
              <a:defRPr sz="2000">
                <a:solidFill>
                  <a:srgbClr val="F8F9FA"/>
                </a:solidFill>
                <a:latin typeface="Segoe UI"/>
              </a:defRPr>
            </a:pPr>
            <a:r>
              <a:t>   +136% perplexity on GPT-2 at 12% budget</a:t>
            </a:r>
          </a:p>
          <a:p>
            <a:pPr>
              <a:spcAft>
                <a:spcPts val="200"/>
              </a:spcAft>
              <a:defRPr sz="600">
                <a:latin typeface="Segoe UI"/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E84C3D"/>
                </a:solidFill>
                <a:latin typeface="Segoe UI"/>
              </a:defRPr>
            </a:pPr>
            <a:r>
              <a:t>Uniform quantization (KIVI)</a:t>
            </a:r>
          </a:p>
          <a:p>
            <a:pPr>
              <a:spcAft>
                <a:spcPts val="1200"/>
              </a:spcAft>
              <a:defRPr sz="2000">
                <a:solidFill>
                  <a:srgbClr val="F8F9FA"/>
                </a:solidFill>
                <a:latin typeface="Segoe UI"/>
              </a:defRPr>
            </a:pPr>
            <a:r>
              <a:t>   Quantize ALL tokens to same low bit-width</a:t>
            </a:r>
          </a:p>
          <a:p>
            <a:pPr>
              <a:spcAft>
                <a:spcPts val="1200"/>
              </a:spcAft>
              <a:defRPr sz="2000">
                <a:solidFill>
                  <a:srgbClr val="F8F9FA"/>
                </a:solidFill>
                <a:latin typeface="Segoe UI"/>
              </a:defRPr>
            </a:pPr>
            <a:r>
              <a:t>   Wastes bits on unimportant tokens, hurts important ones</a:t>
            </a:r>
          </a:p>
          <a:p>
            <a:pPr>
              <a:spcAft>
                <a:spcPts val="1200"/>
              </a:spcAft>
              <a:defRPr sz="2000">
                <a:solidFill>
                  <a:srgbClr val="F8F9FA"/>
                </a:solidFill>
                <a:latin typeface="Segoe UI"/>
              </a:defRPr>
            </a:pPr>
            <a:r>
              <a:t>   +24% perplexity on Llama-2-7B</a:t>
            </a:r>
          </a:p>
          <a:p>
            <a:pPr>
              <a:spcAft>
                <a:spcPts val="200"/>
              </a:spcAft>
              <a:defRPr sz="600">
                <a:latin typeface="Segoe UI"/>
              </a:defRPr>
            </a:pPr>
          </a:p>
          <a:p>
            <a:pPr>
              <a:spcAft>
                <a:spcPts val="1200"/>
              </a:spcAft>
              <a:defRPr b="1" sz="2000">
                <a:solidFill>
                  <a:srgbClr val="00C97B"/>
                </a:solidFill>
                <a:latin typeface="Segoe UI"/>
              </a:defRPr>
            </a:pPr>
            <a:r>
              <a:t>We need: compression WITHOUT permanent information loss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6C757D"/>
                </a:solidFill>
                <a:latin typeface="Segoe UI"/>
              </a:defRPr>
            </a:pPr>
            <a:r>
              <a:t>Key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~10% of tokens receive &gt;80% of attention.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00C97B"/>
                </a:solidFill>
                <a:latin typeface="Segoe UI"/>
              </a:defRPr>
            </a:pPr>
            <a:r>
              <a:t>Give important tokens more bits.</a:t>
            </a:r>
            <a:br/>
            <a:r>
              <a:t>Compress the rest aggressively.</a:t>
            </a:r>
            <a:br/>
            <a:r>
              <a:t>Never throw anything away.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AKV: Three-Tier Hierarchy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474720" cy="2194560"/>
          </a:xfrm>
          <a:prstGeom prst="roundRect">
            <a:avLst/>
          </a:prstGeom>
          <a:solidFill>
            <a:srgbClr val="143020"/>
          </a:solidFill>
          <a:ln w="2540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00C97B"/>
                </a:solidFill>
              </a:defRPr>
            </a:pPr>
            <a:r>
              <a:t>HOT</a:t>
            </a:r>
          </a:p>
          <a:p>
            <a:br/>
            <a:pPr algn="ctr">
              <a:defRPr sz="1500">
                <a:solidFill>
                  <a:srgbClr val="DEE2E6"/>
                </a:solidFill>
              </a:defRPr>
            </a:pPr>
            <a:r>
              <a:t>fp16  ·  GPU HBM</a:t>
            </a:r>
          </a:p>
          <a:p>
            <a:pPr algn="ctr">
              <a:defRPr sz="1400">
                <a:solidFill>
                  <a:srgbClr val="6C757D"/>
                </a:solidFill>
              </a:defRPr>
            </a:pPr>
            <a:r>
              <a:t>Most important tokens</a:t>
            </a:r>
          </a:p>
          <a:p>
            <a:pPr algn="ctr">
              <a:defRPr sz="1300">
                <a:solidFill>
                  <a:srgbClr val="6C757D"/>
                </a:solidFill>
              </a:defRPr>
            </a:pPr>
            <a:r>
              <a:t>(recent + high attention)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474720" cy="2194560"/>
          </a:xfrm>
          <a:prstGeom prst="roundRect">
            <a:avLst/>
          </a:prstGeom>
          <a:solidFill>
            <a:srgbClr val="2A2510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C107"/>
                </a:solidFill>
              </a:defRPr>
            </a:pPr>
            <a:r>
              <a:t>WARM</a:t>
            </a:r>
          </a:p>
          <a:p>
            <a:br/>
            <a:pPr algn="ctr">
              <a:defRPr sz="1500">
                <a:solidFill>
                  <a:srgbClr val="DEE2E6"/>
                </a:solidFill>
              </a:defRPr>
            </a:pPr>
            <a:r>
              <a:t>4-bit  ·  GPU</a:t>
            </a:r>
          </a:p>
          <a:p>
            <a:pPr algn="ctr">
              <a:defRPr sz="1400">
                <a:solidFill>
                  <a:srgbClr val="6C757D"/>
                </a:solidFill>
              </a:defRPr>
            </a:pPr>
            <a:r>
              <a:t>Medium importance</a:t>
            </a:r>
          </a:p>
          <a:p>
            <a:pPr algn="ctr">
              <a:defRPr sz="1300">
                <a:solidFill>
                  <a:srgbClr val="6C757D"/>
                </a:solidFill>
              </a:defRPr>
            </a:pPr>
            <a:r>
              <a:t>(per-group quantized)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554480"/>
            <a:ext cx="3474720" cy="2194560"/>
          </a:xfrm>
          <a:prstGeom prst="roundRect">
            <a:avLst/>
          </a:prstGeom>
          <a:solidFill>
            <a:srgbClr val="102035"/>
          </a:solidFill>
          <a:ln w="25400">
            <a:solidFill>
              <a:srgbClr val="33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339AF0"/>
                </a:solidFill>
              </a:defRPr>
            </a:pPr>
            <a:r>
              <a:t>COLD</a:t>
            </a:r>
          </a:p>
          <a:p>
            <a:br/>
            <a:pPr algn="ctr">
              <a:defRPr sz="1500">
                <a:solidFill>
                  <a:srgbClr val="DEE2E6"/>
                </a:solidFill>
              </a:defRPr>
            </a:pPr>
            <a:r>
              <a:t>2-bit  ·  CPU</a:t>
            </a:r>
          </a:p>
          <a:p>
            <a:pPr algn="ctr">
              <a:defRPr sz="1400">
                <a:solidFill>
                  <a:srgbClr val="6C757D"/>
                </a:solidFill>
              </a:defRPr>
            </a:pPr>
            <a:r>
              <a:t>Least important</a:t>
            </a:r>
          </a:p>
          <a:p>
            <a:pPr algn="ctr">
              <a:defRPr sz="1300">
                <a:solidFill>
                  <a:srgbClr val="6C757D"/>
                </a:solidFill>
              </a:defRPr>
            </a:pPr>
            <a:r>
              <a:t>(but NEVER deleted)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23360" y="2468880"/>
            <a:ext cx="365760" cy="320040"/>
          </a:xfrm>
          <a:prstGeom prst="right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7863840" y="2468880"/>
            <a:ext cx="365760" cy="320040"/>
          </a:xfrm>
          <a:prstGeom prst="right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9FA"/>
                </a:solidFill>
                <a:latin typeface="Segoe UI"/>
              </a:defRPr>
            </a:pPr>
            <a:r>
              <a:t>Mirrors OS virtual memory:   L1 (hot) → L2 (warm) → Swap (cold)</a:t>
            </a:r>
          </a:p>
          <a:p>
            <a:pPr>
              <a:spcAft>
                <a:spcPts val="200"/>
              </a:spcAft>
              <a:defRPr sz="600">
                <a:latin typeface="Segoe UI"/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00C97B"/>
                </a:solidFill>
                <a:latin typeface="Segoe UI"/>
              </a:defRPr>
            </a:pPr>
            <a:r>
              <a:t>Tokens are demoted when HOT exceeds budget — NEVER evicted</a:t>
            </a:r>
          </a:p>
          <a:p>
            <a:pPr>
              <a:spcAft>
                <a:spcPts val="1200"/>
              </a:spcAft>
              <a:defRPr sz="1800">
                <a:solidFill>
                  <a:srgbClr val="F8F9FA"/>
                </a:solidFill>
                <a:latin typeface="Segoe UI"/>
              </a:defRPr>
            </a:pPr>
            <a:r>
              <a:t>Tokens can be promoted back if importance increases over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6C757D"/>
                </a:solidFill>
                <a:latin typeface="Segoe UI"/>
              </a:defRPr>
            </a:pPr>
            <a:r>
              <a:t>Per decoding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0C97B"/>
                </a:solidFill>
                <a:latin typeface="Segoe UI"/>
              </a:defRPr>
            </a:pPr>
            <a:r>
              <a:t>Step 1:  New token KV → enters HOT tier (fp16)</a:t>
            </a:r>
          </a:p>
          <a:p>
            <a:pPr>
              <a:spcAft>
                <a:spcPts val="200"/>
              </a:spcAft>
              <a:defRPr sz="600">
                <a:latin typeface="Segoe UI"/>
              </a:defRPr>
            </a:pPr>
          </a:p>
          <a:p>
            <a:pPr>
              <a:spcAft>
                <a:spcPts val="1200"/>
              </a:spcAft>
              <a:defRPr b="1" sz="2000">
                <a:solidFill>
                  <a:srgbClr val="00C97B"/>
                </a:solidFill>
                <a:latin typeface="Segoe UI"/>
              </a:defRPr>
            </a:pPr>
            <a:r>
              <a:t>Step 2:  Score ALL cached tokens</a:t>
            </a:r>
          </a:p>
          <a:p>
            <a:pPr>
              <a:spcAft>
                <a:spcPts val="1200"/>
              </a:spcAft>
              <a:defRPr sz="2000">
                <a:solidFill>
                  <a:srgbClr val="F8F9FA"/>
                </a:solidFill>
                <a:latin typeface="Segoe UI"/>
              </a:defRPr>
            </a:pPr>
            <a:r>
              <a:t>           Hybrid: attention accumulation + recency + decay</a:t>
            </a:r>
          </a:p>
          <a:p>
            <a:pPr>
              <a:spcAft>
                <a:spcPts val="200"/>
              </a:spcAft>
              <a:defRPr sz="600">
                <a:latin typeface="Segoe UI"/>
              </a:defRPr>
            </a:pPr>
          </a:p>
          <a:p>
            <a:pPr>
              <a:spcAft>
                <a:spcPts val="1200"/>
              </a:spcAft>
              <a:defRPr b="1" sz="2000">
                <a:solidFill>
                  <a:srgbClr val="00C97B"/>
                </a:solidFill>
                <a:latin typeface="Segoe UI"/>
              </a:defRPr>
            </a:pPr>
            <a:r>
              <a:t>Step 3:  If HOT exceeds budget → reorganize:</a:t>
            </a:r>
          </a:p>
          <a:p>
            <a:pPr>
              <a:spcAft>
                <a:spcPts val="1200"/>
              </a:spcAft>
              <a:defRPr sz="2000">
                <a:solidFill>
                  <a:srgbClr val="F8F9FA"/>
                </a:solidFill>
                <a:latin typeface="Segoe UI"/>
              </a:defRPr>
            </a:pPr>
            <a:r>
              <a:t>           Top-k scores     →  stay HOT   (fp16)</a:t>
            </a:r>
          </a:p>
          <a:p>
            <a:pPr>
              <a:spcAft>
                <a:spcPts val="1200"/>
              </a:spcAft>
              <a:defRPr sz="2000">
                <a:solidFill>
                  <a:srgbClr val="F8F9FA"/>
                </a:solidFill>
                <a:latin typeface="Segoe UI"/>
              </a:defRPr>
            </a:pPr>
            <a:r>
              <a:t>           Middle scores    →  demote to WARM  (4-bit)</a:t>
            </a:r>
          </a:p>
          <a:p>
            <a:pPr>
              <a:spcAft>
                <a:spcPts val="1200"/>
              </a:spcAft>
              <a:defRPr sz="2000">
                <a:solidFill>
                  <a:srgbClr val="F8F9FA"/>
                </a:solidFill>
                <a:latin typeface="Segoe UI"/>
              </a:defRPr>
            </a:pPr>
            <a:r>
              <a:t>           Bottom scores    →  demote to COLD  (2-bit)</a:t>
            </a:r>
          </a:p>
          <a:p>
            <a:pPr>
              <a:spcAft>
                <a:spcPts val="200"/>
              </a:spcAft>
              <a:defRPr sz="600">
                <a:latin typeface="Segoe UI"/>
              </a:defRPr>
            </a:pPr>
          </a:p>
          <a:p>
            <a:pPr>
              <a:spcAft>
                <a:spcPts val="1200"/>
              </a:spcAft>
              <a:defRPr b="1" sz="2000">
                <a:solidFill>
                  <a:srgbClr val="00C97B"/>
                </a:solidFill>
                <a:latin typeface="Segoe UI"/>
              </a:defRPr>
            </a:pPr>
            <a:r>
              <a:t>Step 4:  Compute attention over ALL tiers</a:t>
            </a:r>
          </a:p>
          <a:p>
            <a:pPr>
              <a:spcAft>
                <a:spcPts val="1200"/>
              </a:spcAft>
              <a:defRPr sz="2000">
                <a:solidFill>
                  <a:srgbClr val="F8F9FA"/>
                </a:solidFill>
                <a:latin typeface="Segoe UI"/>
              </a:defRPr>
            </a:pPr>
            <a:r>
              <a:t>           Dequantize warm/cold on-the-fly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Key 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0C97B"/>
                </a:solidFill>
                <a:latin typeface="Segoe UI"/>
              </a:defRPr>
            </a:pPr>
            <a:r>
              <a:t>1. Never evicts — only demotes</a:t>
            </a:r>
          </a:p>
          <a:p>
            <a:pPr>
              <a:spcAft>
                <a:spcPts val="1200"/>
              </a:spcAft>
              <a:defRPr sz="2000">
                <a:solidFill>
                  <a:srgbClr val="F8F9FA"/>
                </a:solidFill>
                <a:latin typeface="Segoe UI"/>
              </a:defRPr>
            </a:pPr>
            <a:r>
              <a:t>   Cold tokens always retrievable (unlike H2O/SnapKV)</a:t>
            </a:r>
          </a:p>
          <a:p>
            <a:pPr>
              <a:spcAft>
                <a:spcPts val="200"/>
              </a:spcAft>
              <a:defRPr sz="600">
                <a:latin typeface="Segoe UI"/>
              </a:defRPr>
            </a:pPr>
          </a:p>
          <a:p>
            <a:pPr>
              <a:spcAft>
                <a:spcPts val="1200"/>
              </a:spcAft>
              <a:defRPr b="1" sz="2000">
                <a:solidFill>
                  <a:srgbClr val="00C97B"/>
                </a:solidFill>
                <a:latin typeface="Segoe UI"/>
              </a:defRPr>
            </a:pPr>
            <a:r>
              <a:t>2. Mixed-precision (importance-aware)</a:t>
            </a:r>
          </a:p>
          <a:p>
            <a:pPr>
              <a:spcAft>
                <a:spcPts val="1200"/>
              </a:spcAft>
              <a:defRPr sz="2000">
                <a:solidFill>
                  <a:srgbClr val="F8F9FA"/>
                </a:solidFill>
                <a:latin typeface="Segoe UI"/>
              </a:defRPr>
            </a:pPr>
            <a:r>
              <a:t>   Important = fp16, less important = 4-bit, unimportant = 2-bit</a:t>
            </a:r>
          </a:p>
          <a:p>
            <a:pPr>
              <a:spcAft>
                <a:spcPts val="200"/>
              </a:spcAft>
              <a:defRPr sz="600">
                <a:latin typeface="Segoe UI"/>
              </a:defRPr>
            </a:pPr>
          </a:p>
          <a:p>
            <a:pPr>
              <a:spcAft>
                <a:spcPts val="1200"/>
              </a:spcAft>
              <a:defRPr b="1" sz="2000">
                <a:solidFill>
                  <a:srgbClr val="00C97B"/>
                </a:solidFill>
                <a:latin typeface="Segoe UI"/>
              </a:defRPr>
            </a:pPr>
            <a:r>
              <a:t>3. Continuous adaptation</a:t>
            </a:r>
          </a:p>
          <a:p>
            <a:pPr>
              <a:spcAft>
                <a:spcPts val="1200"/>
              </a:spcAft>
              <a:defRPr sz="2000">
                <a:solidFill>
                  <a:srgbClr val="F8F9FA"/>
                </a:solidFill>
                <a:latin typeface="Segoe UI"/>
              </a:defRPr>
            </a:pPr>
            <a:r>
              <a:t>   Scores evolve during generation; tokens can move between tiers</a:t>
            </a:r>
          </a:p>
          <a:p>
            <a:pPr>
              <a:spcAft>
                <a:spcPts val="200"/>
              </a:spcAft>
              <a:defRPr sz="600">
                <a:latin typeface="Segoe UI"/>
              </a:defRPr>
            </a:pPr>
          </a:p>
          <a:p>
            <a:pPr>
              <a:spcAft>
                <a:spcPts val="1200"/>
              </a:spcAft>
              <a:defRPr b="1" sz="2000">
                <a:solidFill>
                  <a:srgbClr val="00C97B"/>
                </a:solidFill>
                <a:latin typeface="Segoe UI"/>
              </a:defRPr>
            </a:pPr>
            <a:r>
              <a:t>4. Hardware-aligned hierarchy</a:t>
            </a:r>
          </a:p>
          <a:p>
            <a:pPr>
              <a:spcAft>
                <a:spcPts val="1200"/>
              </a:spcAft>
              <a:defRPr sz="2000">
                <a:solidFill>
                  <a:srgbClr val="F8F9FA"/>
                </a:solidFill>
                <a:latin typeface="Segoe UI"/>
              </a:defRPr>
            </a:pPr>
            <a:r>
              <a:t>   GPU HBM → GPU quantized → CPU RAM (matches memory bandwidth)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C757D"/>
                </a:solidFill>
                <a:latin typeface="Segoe UI"/>
              </a:defRPr>
            </a:pPr>
            <a:r>
              <a:t>WikiText-2 Perplexity  ·  GPT-2 (124M) &amp; Llama-2-7B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Llama-2-7B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6C757D"/>
                </a:solidFill>
                <a:latin typeface="Segoe UI"/>
              </a:defRPr>
            </a:pPr>
            <a:r>
              <a:t>WikiText-2  ·  2048 tokens  ·  Budget = 256 (12.5% retention)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339AF0"/>
                </a:solidFill>
                <a:latin typeface="Segoe UI"/>
              </a:defRPr>
            </a:pPr>
            <a: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9202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39AF0"/>
                </a:solidFill>
                <a:latin typeface="Segoe UI"/>
              </a:defRPr>
            </a:pPr>
            <a:r>
              <a:t>PPL 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39AF0"/>
                </a:solidFill>
                <a:latin typeface="Segoe UI"/>
              </a:defRPr>
            </a:pPr>
            <a:r>
              <a:t>Δ%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920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39AF0"/>
                </a:solidFill>
                <a:latin typeface="Segoe UI"/>
              </a:defRPr>
            </a:pPr>
            <a:r>
              <a:t>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1920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39AF0"/>
                </a:solidFill>
                <a:latin typeface="Segoe UI"/>
              </a:defRPr>
            </a:pPr>
            <a:r>
              <a:t>Compress.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67712"/>
            <a:ext cx="10698480" cy="10972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8F9FA"/>
                </a:solidFill>
                <a:latin typeface="Segoe UI"/>
              </a:defRPr>
            </a:pPr>
            <a:r>
              <a:t>Full Cache (baseline)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3774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8F9FA"/>
                </a:solidFill>
                <a:latin typeface="Segoe UI"/>
              </a:defRPr>
            </a:pPr>
            <a:r>
              <a:t>4.21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774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8F9FA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377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8F9FA"/>
                </a:solidFill>
                <a:latin typeface="Segoe UI"/>
              </a:defRPr>
            </a:pPr>
            <a:r>
              <a:t>1074 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23774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8F9FA"/>
                </a:solidFill>
                <a:latin typeface="Segoe UI"/>
              </a:defRPr>
            </a:pPr>
            <a:r>
              <a:t>1.0×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7889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8F9FA"/>
                </a:solidFill>
                <a:latin typeface="Segoe UI"/>
              </a:defRPr>
            </a:pPr>
            <a:r>
              <a:t>H2O (permanent eviction)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7889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8F9FA"/>
                </a:solidFill>
                <a:latin typeface="Segoe UI"/>
              </a:defRPr>
            </a:pPr>
            <a:r>
              <a:t>5.75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889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8F9FA"/>
                </a:solidFill>
                <a:latin typeface="Segoe UI"/>
              </a:defRPr>
            </a:pPr>
            <a:r>
              <a:t>+36.5%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788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8F9FA"/>
                </a:solidFill>
                <a:latin typeface="Segoe UI"/>
              </a:defRPr>
            </a:pPr>
            <a:r>
              <a:t>134 MB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2788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8F9FA"/>
                </a:solidFill>
                <a:latin typeface="Segoe UI"/>
              </a:defRPr>
            </a:pPr>
            <a:r>
              <a:t>8.0×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2004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8F9FA"/>
                </a:solidFill>
                <a:latin typeface="Segoe UI"/>
              </a:defRPr>
            </a:pPr>
            <a:r>
              <a:t>KIVI-2bit (uniform quant)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20040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8F9FA"/>
                </a:solidFill>
                <a:latin typeface="Segoe UI"/>
              </a:defRPr>
            </a:pPr>
            <a:r>
              <a:t>5.24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20040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8F9FA"/>
                </a:solidFill>
                <a:latin typeface="Segoe UI"/>
              </a:defRPr>
            </a:pPr>
            <a:r>
              <a:t>+24.3%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2004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8F9FA"/>
                </a:solidFill>
                <a:latin typeface="Segoe UI"/>
              </a:defRPr>
            </a:pPr>
            <a:r>
              <a:t>602 MB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3200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8F9FA"/>
                </a:solidFill>
                <a:latin typeface="Segoe UI"/>
              </a:defRPr>
            </a:pPr>
            <a:r>
              <a:t>1.8×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611880"/>
            <a:ext cx="10698480" cy="7315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749039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Segoe UI"/>
              </a:defRPr>
            </a:pPr>
            <a:r>
              <a:t>AKV-4bit (ours)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749039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C97B"/>
                </a:solidFill>
                <a:latin typeface="Segoe UI"/>
              </a:defRPr>
            </a:pPr>
            <a:r>
              <a:t>4.23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749039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C97B"/>
                </a:solidFill>
                <a:latin typeface="Segoe UI"/>
              </a:defRPr>
            </a:pPr>
            <a:r>
              <a:t>+0.5%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749039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C97B"/>
                </a:solidFill>
                <a:latin typeface="Segoe UI"/>
              </a:defRPr>
            </a:pPr>
            <a:r>
              <a:t>384 MB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74903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C97B"/>
                </a:solidFill>
                <a:latin typeface="Segoe UI"/>
              </a:defRPr>
            </a:pPr>
            <a:r>
              <a:t>2.8×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1605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Segoe UI"/>
              </a:defRPr>
            </a:pPr>
            <a:r>
              <a:t>AKV-2bit (ours)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1605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C97B"/>
                </a:solidFill>
                <a:latin typeface="Segoe UI"/>
              </a:defRPr>
            </a:pPr>
            <a:r>
              <a:t>4.93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1605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C97B"/>
                </a:solidFill>
                <a:latin typeface="Segoe UI"/>
              </a:defRPr>
            </a:pPr>
            <a:r>
              <a:t>+17.0%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41605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C97B"/>
                </a:solidFill>
                <a:latin typeface="Segoe UI"/>
              </a:defRPr>
            </a:pPr>
            <a:r>
              <a:t>266 MB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4160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C97B"/>
                </a:solidFill>
                <a:latin typeface="Segoe UI"/>
              </a:defRPr>
            </a:pPr>
            <a:r>
              <a:t>4.0×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937760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0C97B"/>
                </a:solidFill>
                <a:latin typeface="Segoe UI"/>
              </a:defRPr>
            </a:pPr>
            <a:r>
              <a:t>+0.5%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760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DEE2E6"/>
                </a:solidFill>
                <a:latin typeface="Segoe UI"/>
              </a:defRPr>
            </a:pPr>
            <a:r>
              <a:t>PPL degradation</a:t>
            </a:r>
            <a:br/>
            <a:r>
              <a:t>(near-lossless)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4937760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339AF0"/>
                </a:solidFill>
                <a:latin typeface="Segoe UI"/>
              </a:defRPr>
            </a:pPr>
            <a:r>
              <a:t>2.8×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5760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DEE2E6"/>
                </a:solidFill>
                <a:latin typeface="Segoe UI"/>
              </a:defRPr>
            </a:pPr>
            <a:r>
              <a:t>compression</a:t>
            </a:r>
            <a:br/>
            <a:r>
              <a:t>(saves 690 MB)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4937760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C107"/>
                </a:solidFill>
                <a:latin typeface="Segoe UI"/>
              </a:defRPr>
            </a:pPr>
            <a:r>
              <a:t>2048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0" y="5760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DEE2E6"/>
                </a:solidFill>
                <a:latin typeface="Segoe UI"/>
              </a:defRPr>
            </a:pPr>
            <a:r>
              <a:t>tokens retained</a:t>
            </a:r>
            <a:br/>
            <a:r>
              <a:t>(H2O keeps 256)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4937760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0C97B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5760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DEE2E6"/>
                </a:solidFill>
                <a:latin typeface="Segoe UI"/>
              </a:defRPr>
            </a:pPr>
            <a:r>
              <a:t>tokens evicted</a:t>
            </a:r>
            <a:br/>
            <a:r>
              <a:t>(never forgets)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GPT-2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6C757D"/>
                </a:solidFill>
                <a:latin typeface="Segoe UI"/>
              </a:defRPr>
            </a:pPr>
            <a:r>
              <a:t>WikiText-2  ·  1024 tokens  ·  Budget = 128 (12.5% retention)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339AF0"/>
                </a:solidFill>
                <a:latin typeface="Segoe UI"/>
              </a:defRPr>
            </a:pPr>
            <a: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9202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39AF0"/>
                </a:solidFill>
                <a:latin typeface="Segoe UI"/>
              </a:defRPr>
            </a:pPr>
            <a:r>
              <a:t>PPL 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39AF0"/>
                </a:solidFill>
                <a:latin typeface="Segoe UI"/>
              </a:defRPr>
            </a:pPr>
            <a:r>
              <a:t>Δ%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920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39AF0"/>
                </a:solidFill>
                <a:latin typeface="Segoe UI"/>
              </a:defRPr>
            </a:pPr>
            <a:r>
              <a:t>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1920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39AF0"/>
                </a:solidFill>
                <a:latin typeface="Segoe UI"/>
              </a:defRPr>
            </a:pPr>
            <a:r>
              <a:t>Compress.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67712"/>
            <a:ext cx="10698480" cy="10972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8F9FA"/>
                </a:solidFill>
                <a:latin typeface="Segoe UI"/>
              </a:defRPr>
            </a:pPr>
            <a:r>
              <a:t>Full Cache (baseline)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3774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8F9FA"/>
                </a:solidFill>
                <a:latin typeface="Segoe UI"/>
              </a:defRPr>
            </a:pPr>
            <a:r>
              <a:t>15.80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774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8F9FA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377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8F9FA"/>
                </a:solidFill>
                <a:latin typeface="Segoe UI"/>
              </a:defRPr>
            </a:pPr>
            <a:r>
              <a:t>37.7 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23774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8F9FA"/>
                </a:solidFill>
                <a:latin typeface="Segoe UI"/>
              </a:defRPr>
            </a:pPr>
            <a:r>
              <a:t>1.0×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7889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8F9FA"/>
                </a:solidFill>
                <a:latin typeface="Segoe UI"/>
              </a:defRPr>
            </a:pPr>
            <a:r>
              <a:t>H2O (permanent eviction)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7889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8F9FA"/>
                </a:solidFill>
                <a:latin typeface="Segoe UI"/>
              </a:defRPr>
            </a:pPr>
            <a:r>
              <a:t>37.32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889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8F9FA"/>
                </a:solidFill>
                <a:latin typeface="Segoe UI"/>
              </a:defRPr>
            </a:pPr>
            <a:r>
              <a:t>+136%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788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8F9FA"/>
                </a:solidFill>
                <a:latin typeface="Segoe UI"/>
              </a:defRPr>
            </a:pPr>
            <a:r>
              <a:t>4.7 MB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2788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8F9FA"/>
                </a:solidFill>
                <a:latin typeface="Segoe UI"/>
              </a:defRPr>
            </a:pPr>
            <a:r>
              <a:t>8.0×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2004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8F9FA"/>
                </a:solidFill>
                <a:latin typeface="Segoe UI"/>
              </a:defRPr>
            </a:pPr>
            <a:r>
              <a:t>KIVI-2bit (uniform quant)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20040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8F9FA"/>
                </a:solidFill>
                <a:latin typeface="Segoe UI"/>
              </a:defRPr>
            </a:pPr>
            <a:r>
              <a:t>20.31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20040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8F9FA"/>
                </a:solidFill>
                <a:latin typeface="Segoe UI"/>
              </a:defRPr>
            </a:pPr>
            <a:r>
              <a:t>+28.5%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2004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8F9FA"/>
                </a:solidFill>
                <a:latin typeface="Segoe UI"/>
              </a:defRPr>
            </a:pPr>
            <a:r>
              <a:t>22.3 MB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3200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8F9FA"/>
                </a:solidFill>
                <a:latin typeface="Segoe UI"/>
              </a:defRPr>
            </a:pPr>
            <a:r>
              <a:t>1.7×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611880"/>
            <a:ext cx="10698480" cy="7315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749039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Segoe UI"/>
              </a:defRPr>
            </a:pPr>
            <a:r>
              <a:t>AKV-4bit (ours)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749039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C97B"/>
                </a:solidFill>
                <a:latin typeface="Segoe UI"/>
              </a:defRPr>
            </a:pPr>
            <a:r>
              <a:t>15.71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749039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C97B"/>
                </a:solidFill>
                <a:latin typeface="Segoe UI"/>
              </a:defRPr>
            </a:pPr>
            <a:r>
              <a:t>−0.6%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749039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C97B"/>
                </a:solidFill>
                <a:latin typeface="Segoe UI"/>
              </a:defRPr>
            </a:pPr>
            <a:r>
              <a:t>14.0 MB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74903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C97B"/>
                </a:solidFill>
                <a:latin typeface="Segoe UI"/>
              </a:defRPr>
            </a:pPr>
            <a:r>
              <a:t>2.7×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1605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Segoe UI"/>
              </a:defRPr>
            </a:pPr>
            <a:r>
              <a:t>AKV-2bit (ours)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1605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C97B"/>
                </a:solidFill>
                <a:latin typeface="Segoe UI"/>
              </a:defRPr>
            </a:pPr>
            <a:r>
              <a:t>18.50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1605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C97B"/>
                </a:solidFill>
                <a:latin typeface="Segoe UI"/>
              </a:defRPr>
            </a:pPr>
            <a:r>
              <a:t>+17.1%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41605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C97B"/>
                </a:solidFill>
                <a:latin typeface="Segoe UI"/>
              </a:defRPr>
            </a:pPr>
            <a:r>
              <a:t>9.9 MB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4160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C97B"/>
                </a:solidFill>
                <a:latin typeface="Segoe UI"/>
              </a:defRPr>
            </a:pPr>
            <a:r>
              <a:t>3.8×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18288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600">
                <a:latin typeface="Segoe UI"/>
              </a:defRPr>
            </a:pPr>
          </a:p>
          <a:p>
            <a:pPr>
              <a:spcAft>
                <a:spcPts val="200"/>
              </a:spcAft>
              <a:defRPr sz="600">
                <a:latin typeface="Segoe UI"/>
              </a:defRPr>
            </a:pPr>
          </a:p>
          <a:p>
            <a:pPr>
              <a:spcAft>
                <a:spcPts val="200"/>
              </a:spcAft>
              <a:defRPr sz="600">
                <a:latin typeface="Segoe UI"/>
              </a:defRPr>
            </a:pPr>
          </a:p>
          <a:p>
            <a:pPr>
              <a:spcAft>
                <a:spcPts val="200"/>
              </a:spcAft>
              <a:defRPr sz="600">
                <a:latin typeface="Segoe UI"/>
              </a:defRPr>
            </a:pPr>
          </a:p>
          <a:p>
            <a:pPr>
              <a:spcAft>
                <a:spcPts val="200"/>
              </a:spcAft>
              <a:defRPr sz="600">
                <a:latin typeface="Segoe UI"/>
              </a:defRPr>
            </a:pPr>
          </a:p>
          <a:p>
            <a:pPr>
              <a:spcAft>
                <a:spcPts val="200"/>
              </a:spcAft>
              <a:defRPr sz="600">
                <a:latin typeface="Segoe UI"/>
              </a:defRPr>
            </a:pPr>
          </a:p>
          <a:p>
            <a:pPr>
              <a:spcAft>
                <a:spcPts val="200"/>
              </a:spcAft>
              <a:defRPr sz="600">
                <a:latin typeface="Segoe UI"/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00C97B"/>
                </a:solidFill>
                <a:latin typeface="Segoe UI"/>
              </a:defRPr>
            </a:pPr>
            <a:r>
              <a:t>AKV-4bit: lossless compression (−0.6% PPL) at 2.7× memory reduction</a:t>
            </a:r>
          </a:p>
          <a:p>
            <a:pPr>
              <a:spcAft>
                <a:spcPts val="1200"/>
              </a:spcAft>
              <a:defRPr sz="1800">
                <a:solidFill>
                  <a:srgbClr val="E84C3D"/>
                </a:solidFill>
                <a:latin typeface="Segoe UI"/>
              </a:defRPr>
            </a:pPr>
            <a:r>
              <a:t>H2O: collapses at low budgets (+136% — more than doubles perplexity)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Head-to-Head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900">
                <a:solidFill>
                  <a:srgbClr val="00C97B"/>
                </a:solidFill>
                <a:latin typeface="Segoe UI"/>
              </a:defRPr>
            </a:pPr>
            <a:r>
              <a:t>AKV-4bit vs Full Cache  (Llama-2-7B)</a:t>
            </a:r>
          </a:p>
          <a:p>
            <a:pPr>
              <a:spcAft>
                <a:spcPts val="1200"/>
              </a:spcAft>
              <a:defRPr sz="1900">
                <a:solidFill>
                  <a:srgbClr val="F8F9FA"/>
                </a:solidFill>
                <a:latin typeface="Segoe UI"/>
              </a:defRPr>
            </a:pPr>
            <a:r>
              <a:t>   PPL: 4.23 vs 4.21  ·  Memory: 384 vs 1074 MB</a:t>
            </a:r>
          </a:p>
          <a:p>
            <a:pPr>
              <a:spcAft>
                <a:spcPts val="1200"/>
              </a:spcAft>
              <a:defRPr sz="1900">
                <a:solidFill>
                  <a:srgbClr val="F8F9FA"/>
                </a:solidFill>
                <a:latin typeface="Segoe UI"/>
              </a:defRPr>
            </a:pPr>
            <a:r>
              <a:t>   Essentially lossless, saves 690 MB (64% reduction)</a:t>
            </a:r>
          </a:p>
          <a:p>
            <a:pPr>
              <a:spcAft>
                <a:spcPts val="200"/>
              </a:spcAft>
              <a:defRPr sz="600">
                <a:latin typeface="Segoe UI"/>
              </a:defRPr>
            </a:pPr>
          </a:p>
          <a:p>
            <a:pPr>
              <a:spcAft>
                <a:spcPts val="1200"/>
              </a:spcAft>
              <a:defRPr b="1" sz="1900">
                <a:solidFill>
                  <a:srgbClr val="00C97B"/>
                </a:solidFill>
                <a:latin typeface="Segoe UI"/>
              </a:defRPr>
            </a:pPr>
            <a:r>
              <a:t>AKV-2bit vs KIVI-2bit  (same 2-bit budget)</a:t>
            </a:r>
          </a:p>
          <a:p>
            <a:pPr>
              <a:spcAft>
                <a:spcPts val="1200"/>
              </a:spcAft>
              <a:defRPr sz="1900">
                <a:solidFill>
                  <a:srgbClr val="F8F9FA"/>
                </a:solidFill>
                <a:latin typeface="Segoe UI"/>
              </a:defRPr>
            </a:pPr>
            <a:r>
              <a:t>   PPL: 4.93 vs 5.24  ·  Memory: 266 vs 602 MB</a:t>
            </a:r>
          </a:p>
          <a:p>
            <a:pPr>
              <a:spcAft>
                <a:spcPts val="1200"/>
              </a:spcAft>
              <a:defRPr sz="1900">
                <a:solidFill>
                  <a:srgbClr val="F8F9FA"/>
                </a:solidFill>
                <a:latin typeface="Segoe UI"/>
              </a:defRPr>
            </a:pPr>
            <a:r>
              <a:t>   Better quality AND better compression</a:t>
            </a:r>
          </a:p>
          <a:p>
            <a:pPr>
              <a:spcAft>
                <a:spcPts val="1200"/>
              </a:spcAft>
              <a:defRPr sz="1900">
                <a:solidFill>
                  <a:srgbClr val="F8F9FA"/>
                </a:solidFill>
                <a:latin typeface="Segoe UI"/>
              </a:defRPr>
            </a:pPr>
            <a:r>
              <a:t>   Why: important tokens stay fp16 in HOT tier</a:t>
            </a:r>
          </a:p>
          <a:p>
            <a:pPr>
              <a:spcAft>
                <a:spcPts val="200"/>
              </a:spcAft>
              <a:defRPr sz="600">
                <a:latin typeface="Segoe UI"/>
              </a:defRPr>
            </a:pPr>
          </a:p>
          <a:p>
            <a:pPr>
              <a:spcAft>
                <a:spcPts val="1200"/>
              </a:spcAft>
              <a:defRPr b="1" sz="1900">
                <a:solidFill>
                  <a:srgbClr val="00C97B"/>
                </a:solidFill>
                <a:latin typeface="Segoe UI"/>
              </a:defRPr>
            </a:pPr>
            <a:r>
              <a:t>AKV-4bit vs H2O  (same budget constraint)</a:t>
            </a:r>
          </a:p>
          <a:p>
            <a:pPr>
              <a:spcAft>
                <a:spcPts val="1200"/>
              </a:spcAft>
              <a:defRPr sz="1900">
                <a:solidFill>
                  <a:srgbClr val="F8F9FA"/>
                </a:solidFill>
                <a:latin typeface="Segoe UI"/>
              </a:defRPr>
            </a:pPr>
            <a:r>
              <a:t>   PPL: 4.23 vs 5.75  ·  Tokens: 2048 vs 256 retained</a:t>
            </a:r>
          </a:p>
          <a:p>
            <a:pPr>
              <a:spcAft>
                <a:spcPts val="1200"/>
              </a:spcAft>
              <a:defRPr sz="1900">
                <a:solidFill>
                  <a:srgbClr val="F8F9FA"/>
                </a:solidFill>
                <a:latin typeface="Segoe UI"/>
              </a:defRPr>
            </a:pPr>
            <a:r>
              <a:t>   H2O permanently loses 88% of context</a:t>
            </a:r>
          </a:p>
          <a:p>
            <a:pPr>
              <a:spcAft>
                <a:spcPts val="1200"/>
              </a:spcAft>
              <a:defRPr sz="1900">
                <a:solidFill>
                  <a:srgbClr val="F8F9FA"/>
                </a:solidFill>
                <a:latin typeface="Segoe UI"/>
              </a:defRPr>
            </a:pPr>
            <a:r>
              <a:t>   AKV keeps everything — just at adaptive precision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Why AKV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900">
                <a:solidFill>
                  <a:srgbClr val="00C97B"/>
                </a:solidFill>
                <a:latin typeface="Segoe UI"/>
              </a:defRPr>
            </a:pPr>
            <a:r>
              <a:t>Attention is highly skewed in practice</a:t>
            </a:r>
          </a:p>
          <a:p>
            <a:pPr>
              <a:spcAft>
                <a:spcPts val="1200"/>
              </a:spcAft>
              <a:defRPr sz="1900">
                <a:solidFill>
                  <a:srgbClr val="F8F9FA"/>
                </a:solidFill>
                <a:latin typeface="Segoe UI"/>
              </a:defRPr>
            </a:pPr>
            <a:r>
              <a:t>   ~10% of tokens get &gt;80% of attention (BOS, entities, recent)</a:t>
            </a:r>
          </a:p>
          <a:p>
            <a:pPr>
              <a:spcAft>
                <a:spcPts val="1200"/>
              </a:spcAft>
              <a:defRPr sz="1900">
                <a:solidFill>
                  <a:srgbClr val="F8F9FA"/>
                </a:solidFill>
                <a:latin typeface="Segoe UI"/>
              </a:defRPr>
            </a:pPr>
            <a:r>
              <a:t>   These NEED full precision — rest can be compressed safely</a:t>
            </a:r>
          </a:p>
          <a:p>
            <a:pPr>
              <a:spcAft>
                <a:spcPts val="200"/>
              </a:spcAft>
              <a:defRPr sz="600">
                <a:latin typeface="Segoe UI"/>
              </a:defRPr>
            </a:pPr>
          </a:p>
          <a:p>
            <a:pPr>
              <a:spcAft>
                <a:spcPts val="1200"/>
              </a:spcAft>
              <a:defRPr b="1" sz="1900">
                <a:solidFill>
                  <a:srgbClr val="00C97B"/>
                </a:solidFill>
                <a:latin typeface="Segoe UI"/>
              </a:defRPr>
            </a:pPr>
            <a:r>
              <a:t>Group-based quantization preserves structure</a:t>
            </a:r>
          </a:p>
          <a:p>
            <a:pPr>
              <a:spcAft>
                <a:spcPts val="1200"/>
              </a:spcAft>
              <a:defRPr sz="1900">
                <a:solidFill>
                  <a:srgbClr val="F8F9FA"/>
                </a:solidFill>
                <a:latin typeface="Segoe UI"/>
              </a:defRPr>
            </a:pPr>
            <a:r>
              <a:t>   Per-channel asymmetric with configurable group size</a:t>
            </a:r>
          </a:p>
          <a:p>
            <a:pPr>
              <a:spcAft>
                <a:spcPts val="1200"/>
              </a:spcAft>
              <a:defRPr sz="1900">
                <a:solidFill>
                  <a:srgbClr val="F8F9FA"/>
                </a:solidFill>
                <a:latin typeface="Segoe UI"/>
              </a:defRPr>
            </a:pPr>
            <a:r>
              <a:t>   4-bit cosine similarity &gt; 0.999 with fp16 original</a:t>
            </a:r>
          </a:p>
          <a:p>
            <a:pPr>
              <a:spcAft>
                <a:spcPts val="200"/>
              </a:spcAft>
              <a:defRPr sz="600">
                <a:latin typeface="Segoe UI"/>
              </a:defRPr>
            </a:pPr>
          </a:p>
          <a:p>
            <a:pPr>
              <a:spcAft>
                <a:spcPts val="1200"/>
              </a:spcAft>
              <a:defRPr b="1" sz="1900">
                <a:solidFill>
                  <a:srgbClr val="00C97B"/>
                </a:solidFill>
                <a:latin typeface="Segoe UI"/>
              </a:defRPr>
            </a:pPr>
            <a:r>
              <a:t>Adaptive scoring catches evolving importance</a:t>
            </a:r>
          </a:p>
          <a:p>
            <a:pPr>
              <a:spcAft>
                <a:spcPts val="1200"/>
              </a:spcAft>
              <a:defRPr sz="1900">
                <a:solidFill>
                  <a:srgbClr val="F8F9FA"/>
                </a:solidFill>
                <a:latin typeface="Segoe UI"/>
              </a:defRPr>
            </a:pPr>
            <a:r>
              <a:t>   Token unimportant at step 100 may matter at step 500</a:t>
            </a:r>
          </a:p>
          <a:p>
            <a:pPr>
              <a:spcAft>
                <a:spcPts val="1200"/>
              </a:spcAft>
              <a:defRPr sz="1900">
                <a:solidFill>
                  <a:srgbClr val="F8F9FA"/>
                </a:solidFill>
                <a:latin typeface="Segoe UI"/>
              </a:defRPr>
            </a:pPr>
            <a:r>
              <a:t>   AKV can promote it back to higher precision</a:t>
            </a:r>
          </a:p>
          <a:p>
            <a:pPr>
              <a:spcAft>
                <a:spcPts val="200"/>
              </a:spcAft>
              <a:defRPr sz="600">
                <a:latin typeface="Segoe UI"/>
              </a:defRPr>
            </a:pPr>
          </a:p>
          <a:p>
            <a:pPr>
              <a:spcAft>
                <a:spcPts val="1200"/>
              </a:spcAft>
              <a:defRPr b="1" sz="1900">
                <a:solidFill>
                  <a:srgbClr val="00C97B"/>
                </a:solidFill>
                <a:latin typeface="Segoe UI"/>
              </a:defRPr>
            </a:pPr>
            <a:r>
              <a:t>No single point of failure</a:t>
            </a:r>
          </a:p>
          <a:p>
            <a:pPr>
              <a:spcAft>
                <a:spcPts val="1200"/>
              </a:spcAft>
              <a:defRPr sz="1900">
                <a:solidFill>
                  <a:srgbClr val="F8F9FA"/>
                </a:solidFill>
                <a:latin typeface="Segoe UI"/>
              </a:defRPr>
            </a:pPr>
            <a:r>
              <a:t>   Unlike eviction: a wrongly-demoted token is still accessible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Ablation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900">
                <a:solidFill>
                  <a:srgbClr val="00C97B"/>
                </a:solidFill>
                <a:latin typeface="Segoe UI"/>
              </a:defRPr>
            </a:pPr>
            <a:r>
              <a:t>Warm tier bit-width</a:t>
            </a:r>
          </a:p>
          <a:p>
            <a:pPr>
              <a:spcAft>
                <a:spcPts val="1200"/>
              </a:spcAft>
              <a:defRPr sz="1900">
                <a:solidFill>
                  <a:srgbClr val="F8F9FA"/>
                </a:solidFill>
                <a:latin typeface="Segoe UI"/>
              </a:defRPr>
            </a:pPr>
            <a:r>
              <a:t>   2-bit: 6.5× compression, some quality loss</a:t>
            </a:r>
          </a:p>
          <a:p>
            <a:pPr>
              <a:spcAft>
                <a:spcPts val="1200"/>
              </a:spcAft>
              <a:defRPr sz="1900">
                <a:solidFill>
                  <a:srgbClr val="F8F9FA"/>
                </a:solidFill>
                <a:latin typeface="Segoe UI"/>
              </a:defRPr>
            </a:pPr>
            <a:r>
              <a:t>   4-bit: 3.8× compression, near-lossless  ← recommended</a:t>
            </a:r>
          </a:p>
          <a:p>
            <a:pPr>
              <a:spcAft>
                <a:spcPts val="1200"/>
              </a:spcAft>
              <a:defRPr sz="1900">
                <a:solidFill>
                  <a:srgbClr val="F8F9FA"/>
                </a:solidFill>
                <a:latin typeface="Segoe UI"/>
              </a:defRPr>
            </a:pPr>
            <a:r>
              <a:t>   8-bit: 1.8× compression, diminishing returns</a:t>
            </a:r>
          </a:p>
          <a:p>
            <a:pPr>
              <a:spcAft>
                <a:spcPts val="200"/>
              </a:spcAft>
              <a:defRPr sz="600">
                <a:latin typeface="Segoe UI"/>
              </a:defRPr>
            </a:pPr>
          </a:p>
          <a:p>
            <a:pPr>
              <a:spcAft>
                <a:spcPts val="1200"/>
              </a:spcAft>
              <a:defRPr b="1" sz="1900">
                <a:solidFill>
                  <a:srgbClr val="00C97B"/>
                </a:solidFill>
                <a:latin typeface="Segoe UI"/>
              </a:defRPr>
            </a:pPr>
            <a:r>
              <a:t>Hot budget size (% of sequence in fp16)</a:t>
            </a:r>
          </a:p>
          <a:p>
            <a:pPr>
              <a:spcAft>
                <a:spcPts val="1200"/>
              </a:spcAft>
              <a:defRPr sz="1900">
                <a:solidFill>
                  <a:srgbClr val="F8F9FA"/>
                </a:solidFill>
                <a:latin typeface="Segoe UI"/>
              </a:defRPr>
            </a:pPr>
            <a:r>
              <a:t>   Smaller → more compression, slight PPL increase</a:t>
            </a:r>
          </a:p>
          <a:p>
            <a:pPr>
              <a:spcAft>
                <a:spcPts val="1200"/>
              </a:spcAft>
              <a:defRPr sz="1900">
                <a:solidFill>
                  <a:srgbClr val="F8F9FA"/>
                </a:solidFill>
                <a:latin typeface="Segoe UI"/>
              </a:defRPr>
            </a:pPr>
            <a:r>
              <a:t>   12-25% of sequence length is the sweet spot</a:t>
            </a:r>
          </a:p>
          <a:p>
            <a:pPr>
              <a:spcAft>
                <a:spcPts val="200"/>
              </a:spcAft>
              <a:defRPr sz="600">
                <a:latin typeface="Segoe UI"/>
              </a:defRPr>
            </a:pPr>
          </a:p>
          <a:p>
            <a:pPr>
              <a:spcAft>
                <a:spcPts val="1200"/>
              </a:spcAft>
              <a:defRPr b="1" sz="1900">
                <a:solidFill>
                  <a:srgbClr val="00C97B"/>
                </a:solidFill>
                <a:latin typeface="Segoe UI"/>
              </a:defRPr>
            </a:pPr>
            <a:r>
              <a:t>Quantization group size</a:t>
            </a:r>
          </a:p>
          <a:p>
            <a:pPr>
              <a:spcAft>
                <a:spcPts val="1200"/>
              </a:spcAft>
              <a:defRPr sz="1900">
                <a:solidFill>
                  <a:srgbClr val="F8F9FA"/>
                </a:solidFill>
                <a:latin typeface="Segoe UI"/>
              </a:defRPr>
            </a:pPr>
            <a:r>
              <a:t>   32: lowest error, more overhead</a:t>
            </a:r>
          </a:p>
          <a:p>
            <a:pPr>
              <a:spcAft>
                <a:spcPts val="1200"/>
              </a:spcAft>
              <a:defRPr sz="1900">
                <a:solidFill>
                  <a:srgbClr val="F8F9FA"/>
                </a:solidFill>
                <a:latin typeface="Segoe UI"/>
              </a:defRPr>
            </a:pPr>
            <a:r>
              <a:t>   128: best speed/quality balance  ← recommended</a:t>
            </a:r>
          </a:p>
          <a:p>
            <a:pPr>
              <a:spcAft>
                <a:spcPts val="1200"/>
              </a:spcAft>
              <a:defRPr sz="1900">
                <a:solidFill>
                  <a:srgbClr val="F8F9FA"/>
                </a:solidFill>
                <a:latin typeface="Segoe UI"/>
              </a:defRPr>
            </a:pPr>
            <a:r>
              <a:t>   256: fastest, slightly more error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3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8F9FA"/>
                </a:solidFill>
                <a:latin typeface="Segoe UI"/>
              </a:defRPr>
            </a:pPr>
            <a:r>
              <a:t>Limitations:</a:t>
            </a:r>
          </a:p>
          <a:p>
            <a:pPr>
              <a:spcAft>
                <a:spcPts val="1200"/>
              </a:spcAft>
              <a:defRPr sz="1900">
                <a:solidFill>
                  <a:srgbClr val="F8F9FA"/>
                </a:solidFill>
                <a:latin typeface="Segoe UI"/>
              </a:defRPr>
            </a:pPr>
            <a:r>
              <a:t>   • Python-level management — not kernel-fused yet (latency overhead)</a:t>
            </a:r>
          </a:p>
          <a:p>
            <a:pPr>
              <a:spcAft>
                <a:spcPts val="1200"/>
              </a:spcAft>
              <a:defRPr sz="1900">
                <a:solidFill>
                  <a:srgbClr val="F8F9FA"/>
                </a:solidFill>
                <a:latin typeface="Segoe UI"/>
              </a:defRPr>
            </a:pPr>
            <a:r>
              <a:t>   • Evaluated on 1K-2K contexts — need 32K+ benchmarks</a:t>
            </a:r>
          </a:p>
          <a:p>
            <a:pPr>
              <a:spcAft>
                <a:spcPts val="1200"/>
              </a:spcAft>
              <a:defRPr sz="1900">
                <a:solidFill>
                  <a:srgbClr val="F8F9FA"/>
                </a:solidFill>
                <a:latin typeface="Segoe UI"/>
              </a:defRPr>
            </a:pPr>
            <a:r>
              <a:t>   • No retrieval task (passkey / needle-in-haystack) yet</a:t>
            </a:r>
          </a:p>
          <a:p>
            <a:pPr>
              <a:spcAft>
                <a:spcPts val="200"/>
              </a:spcAft>
              <a:defRPr sz="600">
                <a:latin typeface="Segoe UI"/>
              </a:defRPr>
            </a:pPr>
          </a:p>
          <a:p>
            <a:pPr>
              <a:spcAft>
                <a:spcPts val="1200"/>
              </a:spcAft>
              <a:defRPr sz="1900">
                <a:solidFill>
                  <a:srgbClr val="F8F9FA"/>
                </a:solidFill>
                <a:latin typeface="Segoe UI"/>
              </a:defRPr>
            </a:pPr>
            <a:r>
              <a:t>Future work:</a:t>
            </a:r>
          </a:p>
          <a:p>
            <a:pPr>
              <a:spcAft>
                <a:spcPts val="1200"/>
              </a:spcAft>
              <a:defRPr b="1" sz="1900">
                <a:solidFill>
                  <a:srgbClr val="00C97B"/>
                </a:solidFill>
                <a:latin typeface="Segoe UI"/>
              </a:defRPr>
            </a:pPr>
            <a:r>
              <a:t>• Fused Triton kernels: dequantize-inside-attention</a:t>
            </a:r>
          </a:p>
          <a:p>
            <a:pPr>
              <a:spcAft>
                <a:spcPts val="1200"/>
              </a:spcAft>
              <a:defRPr b="1" sz="1900">
                <a:solidFill>
                  <a:srgbClr val="00C97B"/>
                </a:solidFill>
                <a:latin typeface="Segoe UI"/>
              </a:defRPr>
            </a:pPr>
            <a:r>
              <a:t>• 128K context on Llama-3-8B / Mistral-7B</a:t>
            </a:r>
          </a:p>
          <a:p>
            <a:pPr>
              <a:spcAft>
                <a:spcPts val="1200"/>
              </a:spcAft>
              <a:defRPr b="1" sz="1900">
                <a:solidFill>
                  <a:srgbClr val="00C97B"/>
                </a:solidFill>
                <a:latin typeface="Segoe UI"/>
              </a:defRPr>
            </a:pPr>
            <a:r>
              <a:t>• Needle-in-a-haystack: prove cold tokens are retrievable</a:t>
            </a:r>
          </a:p>
          <a:p>
            <a:pPr>
              <a:spcAft>
                <a:spcPts val="1200"/>
              </a:spcAft>
              <a:defRPr sz="1900">
                <a:solidFill>
                  <a:srgbClr val="F8F9FA"/>
                </a:solidFill>
                <a:latin typeface="Segoe UI"/>
              </a:defRPr>
            </a:pPr>
            <a:r>
              <a:t>   • vLLM / TensorRT-LLM integration</a:t>
            </a:r>
          </a:p>
          <a:p>
            <a:pPr>
              <a:spcAft>
                <a:spcPts val="1200"/>
              </a:spcAft>
              <a:defRPr sz="1900">
                <a:solidFill>
                  <a:srgbClr val="F8F9FA"/>
                </a:solidFill>
                <a:latin typeface="Segoe UI"/>
              </a:defRPr>
            </a:pPr>
            <a:r>
              <a:t>   • Multi-GPU cold-tier sharding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600">
                <a:latin typeface="Segoe UI"/>
              </a:defRPr>
            </a:pPr>
          </a:p>
          <a:p>
            <a:pPr>
              <a:spcAft>
                <a:spcPts val="1200"/>
              </a:spcAft>
              <a:defRPr b="1" sz="2100">
                <a:solidFill>
                  <a:srgbClr val="00C97B"/>
                </a:solidFill>
                <a:latin typeface="Segoe UI"/>
              </a:defRPr>
            </a:pPr>
            <a:r>
              <a:t>Near-lossless compression</a:t>
            </a:r>
          </a:p>
          <a:p>
            <a:pPr>
              <a:spcAft>
                <a:spcPts val="1200"/>
              </a:spcAft>
              <a:defRPr sz="2100">
                <a:solidFill>
                  <a:srgbClr val="F8F9FA"/>
                </a:solidFill>
                <a:latin typeface="Segoe UI"/>
              </a:defRPr>
            </a:pPr>
            <a:r>
              <a:t>   Llama-2-7B: +0.5% PPL at 2.8× compression (saves 690 MB)</a:t>
            </a:r>
          </a:p>
          <a:p>
            <a:pPr>
              <a:spcAft>
                <a:spcPts val="1200"/>
              </a:spcAft>
              <a:defRPr sz="2100">
                <a:solidFill>
                  <a:srgbClr val="F8F9FA"/>
                </a:solidFill>
                <a:latin typeface="Segoe UI"/>
              </a:defRPr>
            </a:pPr>
            <a:r>
              <a:t>   GPT-2: −0.6% PPL at 2.7× compression</a:t>
            </a:r>
          </a:p>
          <a:p>
            <a:pPr>
              <a:spcAft>
                <a:spcPts val="200"/>
              </a:spcAft>
              <a:defRPr sz="600">
                <a:latin typeface="Segoe UI"/>
              </a:defRPr>
            </a:pPr>
          </a:p>
          <a:p>
            <a:pPr>
              <a:spcAft>
                <a:spcPts val="1200"/>
              </a:spcAft>
              <a:defRPr b="1" sz="2100">
                <a:solidFill>
                  <a:srgbClr val="00C97B"/>
                </a:solidFill>
                <a:latin typeface="Segoe UI"/>
              </a:defRPr>
            </a:pPr>
            <a:r>
              <a:t>Outperforms all baselines</a:t>
            </a:r>
          </a:p>
          <a:p>
            <a:pPr>
              <a:spcAft>
                <a:spcPts val="1200"/>
              </a:spcAft>
              <a:defRPr sz="2100">
                <a:solidFill>
                  <a:srgbClr val="F8F9FA"/>
                </a:solidFill>
                <a:latin typeface="Segoe UI"/>
              </a:defRPr>
            </a:pPr>
            <a:r>
              <a:t>   vs KIVI: better quality AND better compression (same bits)</a:t>
            </a:r>
          </a:p>
          <a:p>
            <a:pPr>
              <a:spcAft>
                <a:spcPts val="1200"/>
              </a:spcAft>
              <a:defRPr sz="2100">
                <a:solidFill>
                  <a:srgbClr val="F8F9FA"/>
                </a:solidFill>
                <a:latin typeface="Segoe UI"/>
              </a:defRPr>
            </a:pPr>
            <a:r>
              <a:t>   vs H2O: 10× better quality, retains ALL tokens</a:t>
            </a:r>
          </a:p>
          <a:p>
            <a:pPr>
              <a:spcAft>
                <a:spcPts val="200"/>
              </a:spcAft>
              <a:defRPr sz="600">
                <a:latin typeface="Segoe UI"/>
              </a:defRPr>
            </a:pPr>
          </a:p>
          <a:p>
            <a:pPr>
              <a:spcAft>
                <a:spcPts val="1200"/>
              </a:spcAft>
              <a:defRPr b="1" sz="2100">
                <a:solidFill>
                  <a:srgbClr val="00C97B"/>
                </a:solidFill>
                <a:latin typeface="Segoe UI"/>
              </a:defRPr>
            </a:pPr>
            <a:r>
              <a:t>Core innovation</a:t>
            </a:r>
          </a:p>
          <a:p>
            <a:pPr>
              <a:spcAft>
                <a:spcPts val="1200"/>
              </a:spcAft>
              <a:defRPr sz="2100">
                <a:solidFill>
                  <a:srgbClr val="F8F9FA"/>
                </a:solidFill>
                <a:latin typeface="Segoe UI"/>
              </a:defRPr>
            </a:pPr>
            <a:r>
              <a:t>   Importance-aware mixed-precision tiering</a:t>
            </a:r>
          </a:p>
          <a:p>
            <a:pPr>
              <a:spcAft>
                <a:spcPts val="1200"/>
              </a:spcAft>
              <a:defRPr sz="2100">
                <a:solidFill>
                  <a:srgbClr val="F8F9FA"/>
                </a:solidFill>
                <a:latin typeface="Segoe UI"/>
              </a:defRPr>
            </a:pPr>
            <a:r>
              <a:t>   Hot (fp16) → Warm (4-bit) → Cold (2-bit)</a:t>
            </a:r>
          </a:p>
          <a:p>
            <a:pPr>
              <a:spcAft>
                <a:spcPts val="1200"/>
              </a:spcAft>
              <a:defRPr sz="2100">
                <a:solidFill>
                  <a:srgbClr val="F8F9FA"/>
                </a:solidFill>
                <a:latin typeface="Segoe UI"/>
              </a:defRPr>
            </a:pPr>
            <a:r>
              <a:t>   Never evict — only demote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00C97B"/>
                </a:solidFill>
                <a:latin typeface="Segoe UI"/>
              </a:defRPr>
            </a:pPr>
            <a:r>
              <a:t>Questions?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754880"/>
            <a:ext cx="8503920" cy="1097280"/>
          </a:xfrm>
          <a:prstGeom prst="roundRect">
            <a:avLst/>
          </a:prstGeom>
          <a:solidFill>
            <a:srgbClr val="143020"/>
          </a:solidFill>
          <a:ln w="1270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C97B"/>
                </a:solidFill>
                <a:latin typeface="Segoe UI"/>
              </a:defRPr>
            </a:pPr>
            <a:r>
              <a:t>Key Result:  +0.5% perplexity  ·  2.8× compression  ·  0 tokens lost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